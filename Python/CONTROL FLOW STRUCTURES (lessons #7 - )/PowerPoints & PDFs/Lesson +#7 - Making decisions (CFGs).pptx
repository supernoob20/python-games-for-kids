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7" r:id="rId4"/>
    <p:sldId id="256" r:id="rId5"/>
    <p:sldId id="268" r:id="rId6"/>
    <p:sldId id="269" r:id="rId7"/>
    <p:sldId id="264" r:id="rId8"/>
    <p:sldId id="262" r:id="rId9"/>
    <p:sldId id="265" r:id="rId10"/>
    <p:sldId id="266" r:id="rId11"/>
    <p:sldId id="270" r:id="rId12"/>
    <p:sldId id="273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1179"/>
    <a:srgbClr val="8A00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4A31F-C53C-88D5-3277-37C9471D3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EEF6F1-7E19-4FDF-35A0-D27500648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0E5344-1BDF-C77C-DDF1-B529C9DC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D52073-8620-2A2F-F3FD-636A475E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2B4BE6-9FBF-A6B5-A2BB-8EB5F142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5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D43ED-C264-4CAF-2341-7BD62481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B0E29E-5420-C7C8-309A-AB88BDE9A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32963D-DB98-A6E7-336C-C9292EBC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61F75A-2BBA-B24A-70F3-B06C1540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76937B-E24F-3CC2-4CC9-418A28E6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1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E7A5B-7415-BFEE-EE8F-4F5BD09A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226380-3871-62F1-2A2B-7118D5EC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0D63E8-3ED7-C8D4-B84A-FAF80098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71AE20-22FB-100A-FF79-1C0996E7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4B2E69-A42D-EA53-A09F-00660CBD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83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1B0D2-B16F-087C-9FBF-5AB66489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94761C-CC1D-E975-E002-513ABC177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E4CCD5-719C-1E18-8CB1-0567AD5D9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347154-A4F4-F2A7-D5D2-AD863EF8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ABFF31-1594-25F6-1642-DEFE103D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0BD27F-2422-C04B-7B50-0815B6DE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9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C28A7-D36D-6DEF-A6D2-651CB4D3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392A57-35F4-5A90-37DB-E97416731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FE6191-18C4-819C-25DC-5BFDEE93E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2DCD34-CA42-71B1-CCA6-231C4F049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B352DD-BAD0-E812-EAE6-1C168FB4A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F01A68-C1F4-9053-ED63-5829D422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46CC23-758F-48CE-60C4-45620813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F290276-067B-D3B6-37F9-D58E2ED4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36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5216D-B928-5E66-3DC2-B69849DD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25F202-CB70-3A05-564B-5523F4D90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3ED20F-8D8A-594A-BF5C-4379C572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426861-3196-FC32-58D2-1441F22A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8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D97587-9B5F-21A6-367E-99530EE9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3E0E86-1073-7D34-70AC-91D89055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75EA0D-E1F1-05FC-0519-FE5FD973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8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FF367-7C85-A2D5-F1DC-691F43F6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292562-B81F-1D07-D77F-08D8ADB5A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7ADA89-5826-EACB-A7B7-3C4278E98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56AE3A-6080-0783-065D-28D57D5E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EEE1E-FDF8-11C2-E356-792126A7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674140-8A34-AA45-EA6A-440F15B5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8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598CA-B0BD-FCEC-8EDA-A7AE8DD4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619CF9-56FE-E63C-6E7D-920262452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62A051-756A-322F-3792-56B6E84E8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94223A-89D8-567E-0AE6-3F7E80E5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F2C310-88C9-F68B-DE15-6CC7285C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C3902F-77C5-8197-11FA-B90BFF26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4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3445D-FEF1-5453-ACDC-4FE2EDCF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0B6E7E-6816-FDC8-B316-08D32E509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31035-40F4-96B1-F55D-DC8155083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34547B-FB11-DBBC-47E5-95452D1F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8710F4-A46E-E302-B97E-264A92CB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28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B2395B-4E02-D6C7-058E-5A06B7441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97DCFC-BCC1-EAA4-31DE-672ACA0A2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602019-92D4-E624-B343-15C7A3D3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FA7894-C117-2614-141C-838B7394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ADCB92-5881-7A99-942A-0B33E16D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4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AD6C4E-7813-BF7D-7198-E5438231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11F191-01D7-C807-AAEF-23F504C4D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F288F0-0448-3278-9292-853D1A289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FDB18-98E6-4A2B-A3F6-0B25054C7CB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95982-F410-2B95-D78A-C6D8855D1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CF9B4E-51EF-E20C-E88E-B81137202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8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D28C3-34E9-607A-9888-1FFC40D6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</a:t>
            </a:r>
            <a:r>
              <a:rPr lang="es-AR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#7</a:t>
            </a:r>
            <a:endParaRPr lang="en-US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D142D8-A4A7-EBD7-A992-1C553FFEC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/>
              <a:t>	</a:t>
            </a:r>
          </a:p>
          <a:p>
            <a:pPr marL="0" indent="0">
              <a:buNone/>
            </a:pP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Making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Decisions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US" sz="2400" i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7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A8282-CFEC-FBE9-42F0-CC6FCBD8B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7" y="1199952"/>
            <a:ext cx="5043060" cy="3400742"/>
          </a:xfrm>
        </p:spPr>
        <p:txBody>
          <a:bodyPr>
            <a:normAutofit/>
          </a:bodyPr>
          <a:lstStyle/>
          <a:p>
            <a:r>
              <a:rPr lang="en-US" dirty="0"/>
              <a:t>Up to now,</a:t>
            </a:r>
            <a:br>
              <a:rPr lang="en-US" dirty="0"/>
            </a:br>
            <a:r>
              <a:rPr lang="en-US" dirty="0"/>
              <a:t>our code has been</a:t>
            </a:r>
            <a:br>
              <a:rPr lang="en-US" dirty="0"/>
            </a:br>
            <a:r>
              <a:rPr lang="en-US" dirty="0"/>
              <a:t>“sequential”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0C19BBC-F86F-0FFB-9349-F8556582999C}"/>
              </a:ext>
            </a:extLst>
          </p:cNvPr>
          <p:cNvSpPr/>
          <p:nvPr/>
        </p:nvSpPr>
        <p:spPr>
          <a:xfrm>
            <a:off x="8470326" y="568036"/>
            <a:ext cx="21699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A3EEAFB-2FD2-ABF1-5B69-F8FAA83CC4F2}"/>
              </a:ext>
            </a:extLst>
          </p:cNvPr>
          <p:cNvSpPr/>
          <p:nvPr/>
        </p:nvSpPr>
        <p:spPr>
          <a:xfrm>
            <a:off x="8082402" y="3311240"/>
            <a:ext cx="31120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0041B70-9D83-F1E5-376A-AD0A9E085B14}"/>
              </a:ext>
            </a:extLst>
          </p:cNvPr>
          <p:cNvSpPr/>
          <p:nvPr/>
        </p:nvSpPr>
        <p:spPr>
          <a:xfrm>
            <a:off x="8162927" y="4488877"/>
            <a:ext cx="2473027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F5D017C-25C7-15FE-F31A-1BACDA02DC24}"/>
              </a:ext>
            </a:extLst>
          </p:cNvPr>
          <p:cNvSpPr txBox="1"/>
          <p:nvPr/>
        </p:nvSpPr>
        <p:spPr>
          <a:xfrm>
            <a:off x="9613323" y="1792164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A15CB5-BFFA-1F30-D908-1D4DAD807F32}"/>
              </a:ext>
            </a:extLst>
          </p:cNvPr>
          <p:cNvSpPr txBox="1"/>
          <p:nvPr/>
        </p:nvSpPr>
        <p:spPr>
          <a:xfrm>
            <a:off x="9638435" y="247466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F50BBEF-A85E-1020-5A35-B35343CCDD4A}"/>
              </a:ext>
            </a:extLst>
          </p:cNvPr>
          <p:cNvSpPr txBox="1"/>
          <p:nvPr/>
        </p:nvSpPr>
        <p:spPr>
          <a:xfrm>
            <a:off x="9700783" y="3025036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ECC523E-5571-9AC8-C50A-0676E60108F4}"/>
              </a:ext>
            </a:extLst>
          </p:cNvPr>
          <p:cNvSpPr txBox="1"/>
          <p:nvPr/>
        </p:nvSpPr>
        <p:spPr>
          <a:xfrm>
            <a:off x="9562233" y="4202675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4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925F722-36E7-008F-13AF-3EF4C4F23BBB}"/>
              </a:ext>
            </a:extLst>
          </p:cNvPr>
          <p:cNvCxnSpPr>
            <a:cxnSpLocks/>
          </p:cNvCxnSpPr>
          <p:nvPr/>
        </p:nvCxnSpPr>
        <p:spPr>
          <a:xfrm>
            <a:off x="9243579" y="1274617"/>
            <a:ext cx="0" cy="7620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CDD468A-23CC-BF41-E4D2-C203053ED2D0}"/>
              </a:ext>
            </a:extLst>
          </p:cNvPr>
          <p:cNvCxnSpPr>
            <a:cxnSpLocks/>
          </p:cNvCxnSpPr>
          <p:nvPr/>
        </p:nvCxnSpPr>
        <p:spPr>
          <a:xfrm flipH="1">
            <a:off x="9229722" y="2798287"/>
            <a:ext cx="13857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D31C7A5-8667-0C85-24D1-F93665022ACE}"/>
              </a:ext>
            </a:extLst>
          </p:cNvPr>
          <p:cNvCxnSpPr>
            <a:cxnSpLocks/>
          </p:cNvCxnSpPr>
          <p:nvPr/>
        </p:nvCxnSpPr>
        <p:spPr>
          <a:xfrm>
            <a:off x="9229721" y="3988803"/>
            <a:ext cx="0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40A3F79A-8332-7A07-EFEC-EEC4613F7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37" y="4464480"/>
            <a:ext cx="5763429" cy="1819529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BF2E410-1D83-B239-0FCF-CF8917B0B566}"/>
              </a:ext>
            </a:extLst>
          </p:cNvPr>
          <p:cNvSpPr txBox="1"/>
          <p:nvPr/>
        </p:nvSpPr>
        <p:spPr>
          <a:xfrm>
            <a:off x="8744816" y="648138"/>
            <a:ext cx="189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name = “Azul “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56331B6-5A81-B12E-BC2D-A2C85C6DB96A}"/>
              </a:ext>
            </a:extLst>
          </p:cNvPr>
          <p:cNvSpPr/>
          <p:nvPr/>
        </p:nvSpPr>
        <p:spPr>
          <a:xfrm>
            <a:off x="8470325" y="2113153"/>
            <a:ext cx="21699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84D2997-6AB4-B2CD-72A5-60B15DC450B7}"/>
              </a:ext>
            </a:extLst>
          </p:cNvPr>
          <p:cNvSpPr txBox="1"/>
          <p:nvPr/>
        </p:nvSpPr>
        <p:spPr>
          <a:xfrm>
            <a:off x="8573370" y="2221941"/>
            <a:ext cx="214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surname = “Cian“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6ACEE6E-CFAD-FFBE-4DB0-10A7AE9870B8}"/>
              </a:ext>
            </a:extLst>
          </p:cNvPr>
          <p:cNvSpPr txBox="1"/>
          <p:nvPr/>
        </p:nvSpPr>
        <p:spPr>
          <a:xfrm>
            <a:off x="8421837" y="3415774"/>
            <a:ext cx="2717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full_name</a:t>
            </a:r>
            <a:r>
              <a:rPr lang="en-US" sz="2000" i="1" dirty="0"/>
              <a:t> = “Azul Cian“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4FB011D-956E-659C-D8E6-76013AB6E882}"/>
              </a:ext>
            </a:extLst>
          </p:cNvPr>
          <p:cNvSpPr txBox="1"/>
          <p:nvPr/>
        </p:nvSpPr>
        <p:spPr>
          <a:xfrm>
            <a:off x="8493705" y="4616034"/>
            <a:ext cx="214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print(“Azul Cian”)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7D88635-9A7F-7721-B06B-76F3E88E067E}"/>
              </a:ext>
            </a:extLst>
          </p:cNvPr>
          <p:cNvSpPr txBox="1"/>
          <p:nvPr/>
        </p:nvSpPr>
        <p:spPr>
          <a:xfrm>
            <a:off x="8411872" y="5736544"/>
            <a:ext cx="232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Azul Cian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61EA1A3-C516-E8E0-6560-45B95E2DBA68}"/>
              </a:ext>
            </a:extLst>
          </p:cNvPr>
          <p:cNvSpPr txBox="1"/>
          <p:nvPr/>
        </p:nvSpPr>
        <p:spPr>
          <a:xfrm>
            <a:off x="7162367" y="5751933"/>
            <a:ext cx="120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9F67F57-5436-4CCC-D0CE-6ACEDC363664}"/>
              </a:ext>
            </a:extLst>
          </p:cNvPr>
          <p:cNvCxnSpPr>
            <a:cxnSpLocks/>
          </p:cNvCxnSpPr>
          <p:nvPr/>
        </p:nvCxnSpPr>
        <p:spPr>
          <a:xfrm>
            <a:off x="9193348" y="5254800"/>
            <a:ext cx="0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upo 31">
            <a:extLst>
              <a:ext uri="{FF2B5EF4-FFF2-40B4-BE49-F238E27FC236}">
                <a16:creationId xmlns:a16="http://schemas.microsoft.com/office/drawing/2014/main" id="{08C2A172-E275-2013-1529-C1EFCD857264}"/>
              </a:ext>
            </a:extLst>
          </p:cNvPr>
          <p:cNvGrpSpPr/>
          <p:nvPr/>
        </p:nvGrpSpPr>
        <p:grpSpPr>
          <a:xfrm>
            <a:off x="692015" y="65728"/>
            <a:ext cx="10834965" cy="6144134"/>
            <a:chOff x="692015" y="65728"/>
            <a:chExt cx="10834965" cy="6144134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9DD8FD30-0295-3D3B-945F-E1D5C10A637B}"/>
                </a:ext>
              </a:extLst>
            </p:cNvPr>
            <p:cNvSpPr txBox="1"/>
            <p:nvPr/>
          </p:nvSpPr>
          <p:spPr>
            <a:xfrm>
              <a:off x="3235901" y="65728"/>
              <a:ext cx="31276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This is a </a:t>
              </a:r>
              <a:r>
                <a:rPr lang="en-US" b="1" dirty="0"/>
                <a:t>CFG</a:t>
              </a:r>
              <a:r>
                <a:rPr lang="en-US" dirty="0"/>
                <a:t> (Control Flow Graph)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EDAD14AC-9EBB-3B17-3F81-C6313F76FBD2}"/>
                </a:ext>
              </a:extLst>
            </p:cNvPr>
            <p:cNvSpPr txBox="1"/>
            <p:nvPr/>
          </p:nvSpPr>
          <p:spPr>
            <a:xfrm>
              <a:off x="692015" y="65728"/>
              <a:ext cx="2608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bg2">
                      <a:lumMod val="50000"/>
                    </a:schemeClr>
                  </a:solidFill>
                </a:rPr>
                <a:t>(It just means “drawing where the code goes!”)</a:t>
              </a:r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44235E15-2D24-79E3-BDAB-0783A02AF7EB}"/>
                </a:ext>
              </a:extLst>
            </p:cNvPr>
            <p:cNvSpPr/>
            <p:nvPr/>
          </p:nvSpPr>
          <p:spPr>
            <a:xfrm>
              <a:off x="6054223" y="209185"/>
              <a:ext cx="928254" cy="222947"/>
            </a:xfrm>
            <a:custGeom>
              <a:avLst/>
              <a:gdLst>
                <a:gd name="connsiteX0" fmla="*/ 0 w 928254"/>
                <a:gd name="connsiteY0" fmla="*/ 124691 h 222947"/>
                <a:gd name="connsiteX1" fmla="*/ 180109 w 928254"/>
                <a:gd name="connsiteY1" fmla="*/ 55418 h 222947"/>
                <a:gd name="connsiteX2" fmla="*/ 263236 w 928254"/>
                <a:gd name="connsiteY2" fmla="*/ 13854 h 222947"/>
                <a:gd name="connsiteX3" fmla="*/ 304800 w 928254"/>
                <a:gd name="connsiteY3" fmla="*/ 0 h 222947"/>
                <a:gd name="connsiteX4" fmla="*/ 609600 w 928254"/>
                <a:gd name="connsiteY4" fmla="*/ 27709 h 222947"/>
                <a:gd name="connsiteX5" fmla="*/ 692727 w 928254"/>
                <a:gd name="connsiteY5" fmla="*/ 41563 h 222947"/>
                <a:gd name="connsiteX6" fmla="*/ 734291 w 928254"/>
                <a:gd name="connsiteY6" fmla="*/ 69273 h 222947"/>
                <a:gd name="connsiteX7" fmla="*/ 789709 w 928254"/>
                <a:gd name="connsiteY7" fmla="*/ 96982 h 222947"/>
                <a:gd name="connsiteX8" fmla="*/ 872836 w 928254"/>
                <a:gd name="connsiteY8" fmla="*/ 221673 h 222947"/>
                <a:gd name="connsiteX9" fmla="*/ 914400 w 928254"/>
                <a:gd name="connsiteY9" fmla="*/ 152400 h 222947"/>
                <a:gd name="connsiteX10" fmla="*/ 928254 w 928254"/>
                <a:gd name="connsiteY10" fmla="*/ 83127 h 22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254" h="222947">
                  <a:moveTo>
                    <a:pt x="0" y="124691"/>
                  </a:moveTo>
                  <a:cubicBezTo>
                    <a:pt x="213321" y="18029"/>
                    <a:pt x="-55320" y="145968"/>
                    <a:pt x="180109" y="55418"/>
                  </a:cubicBezTo>
                  <a:cubicBezTo>
                    <a:pt x="209024" y="44297"/>
                    <a:pt x="234926" y="26436"/>
                    <a:pt x="263236" y="13854"/>
                  </a:cubicBezTo>
                  <a:cubicBezTo>
                    <a:pt x="276581" y="7923"/>
                    <a:pt x="290945" y="4618"/>
                    <a:pt x="304800" y="0"/>
                  </a:cubicBezTo>
                  <a:lnTo>
                    <a:pt x="609600" y="27709"/>
                  </a:lnTo>
                  <a:cubicBezTo>
                    <a:pt x="637531" y="30702"/>
                    <a:pt x="666077" y="32680"/>
                    <a:pt x="692727" y="41563"/>
                  </a:cubicBezTo>
                  <a:cubicBezTo>
                    <a:pt x="708524" y="46829"/>
                    <a:pt x="719834" y="61012"/>
                    <a:pt x="734291" y="69273"/>
                  </a:cubicBezTo>
                  <a:cubicBezTo>
                    <a:pt x="752223" y="79520"/>
                    <a:pt x="771236" y="87746"/>
                    <a:pt x="789709" y="96982"/>
                  </a:cubicBezTo>
                  <a:cubicBezTo>
                    <a:pt x="793307" y="107776"/>
                    <a:pt x="818886" y="237087"/>
                    <a:pt x="872836" y="221673"/>
                  </a:cubicBezTo>
                  <a:cubicBezTo>
                    <a:pt x="898728" y="214275"/>
                    <a:pt x="900545" y="175491"/>
                    <a:pt x="914400" y="152400"/>
                  </a:cubicBezTo>
                  <a:lnTo>
                    <a:pt x="928254" y="83127"/>
                  </a:lnTo>
                </a:path>
              </a:pathLst>
            </a:cu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1AB03CF4-AEAB-7CF8-09B2-E3D6A3C8B793}"/>
                </a:ext>
              </a:extLst>
            </p:cNvPr>
            <p:cNvSpPr/>
            <p:nvPr/>
          </p:nvSpPr>
          <p:spPr>
            <a:xfrm>
              <a:off x="6683306" y="415363"/>
              <a:ext cx="247650" cy="16769"/>
            </a:xfrm>
            <a:custGeom>
              <a:avLst/>
              <a:gdLst>
                <a:gd name="connsiteX0" fmla="*/ 247650 w 247650"/>
                <a:gd name="connsiteY0" fmla="*/ 16669 h 16769"/>
                <a:gd name="connsiteX1" fmla="*/ 180975 w 247650"/>
                <a:gd name="connsiteY1" fmla="*/ 16669 h 16769"/>
                <a:gd name="connsiteX2" fmla="*/ 50007 w 247650"/>
                <a:gd name="connsiteY2" fmla="*/ 11906 h 16769"/>
                <a:gd name="connsiteX3" fmla="*/ 38100 w 247650"/>
                <a:gd name="connsiteY3" fmla="*/ 9525 h 16769"/>
                <a:gd name="connsiteX4" fmla="*/ 30957 w 247650"/>
                <a:gd name="connsiteY4" fmla="*/ 7144 h 16769"/>
                <a:gd name="connsiteX5" fmla="*/ 19050 w 247650"/>
                <a:gd name="connsiteY5" fmla="*/ 4763 h 16769"/>
                <a:gd name="connsiteX6" fmla="*/ 0 w 247650"/>
                <a:gd name="connsiteY6" fmla="*/ 0 h 16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650" h="16769">
                  <a:moveTo>
                    <a:pt x="247650" y="16669"/>
                  </a:moveTo>
                  <a:cubicBezTo>
                    <a:pt x="210111" y="10413"/>
                    <a:pt x="259944" y="17695"/>
                    <a:pt x="180975" y="16669"/>
                  </a:cubicBezTo>
                  <a:cubicBezTo>
                    <a:pt x="137294" y="16102"/>
                    <a:pt x="93663" y="13494"/>
                    <a:pt x="50007" y="11906"/>
                  </a:cubicBezTo>
                  <a:cubicBezTo>
                    <a:pt x="46038" y="11112"/>
                    <a:pt x="42027" y="10507"/>
                    <a:pt x="38100" y="9525"/>
                  </a:cubicBezTo>
                  <a:cubicBezTo>
                    <a:pt x="35665" y="8916"/>
                    <a:pt x="33392" y="7753"/>
                    <a:pt x="30957" y="7144"/>
                  </a:cubicBezTo>
                  <a:cubicBezTo>
                    <a:pt x="27030" y="6162"/>
                    <a:pt x="22994" y="5673"/>
                    <a:pt x="19050" y="4763"/>
                  </a:cubicBezTo>
                  <a:cubicBezTo>
                    <a:pt x="12672" y="3291"/>
                    <a:pt x="0" y="0"/>
                    <a:pt x="0" y="0"/>
                  </a:cubicBezTo>
                </a:path>
              </a:pathLst>
            </a:cu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755B36F1-925D-FBB0-119D-605F8DA43741}"/>
                </a:ext>
              </a:extLst>
            </p:cNvPr>
            <p:cNvSpPr/>
            <p:nvPr/>
          </p:nvSpPr>
          <p:spPr>
            <a:xfrm>
              <a:off x="7162367" y="124691"/>
              <a:ext cx="4364613" cy="6085171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631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87010-818E-9FBC-5033-2526B777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6D8FA9-F5D8-B8F1-9EBA-414C8713A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2559"/>
            <a:ext cx="10515600" cy="7587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4000" dirty="0"/>
              <a:t>Do </a:t>
            </a:r>
            <a:r>
              <a:rPr lang="es-AR" sz="4000" dirty="0" err="1"/>
              <a:t>you</a:t>
            </a:r>
            <a:r>
              <a:rPr lang="es-AR" sz="4000" dirty="0"/>
              <a:t> </a:t>
            </a:r>
            <a:r>
              <a:rPr lang="es-AR" sz="4000" dirty="0" err="1"/>
              <a:t>remember</a:t>
            </a:r>
            <a:r>
              <a:rPr lang="es-AR" sz="4000" dirty="0"/>
              <a:t> </a:t>
            </a:r>
            <a:r>
              <a:rPr lang="es-AR" sz="4000" dirty="0" err="1"/>
              <a:t>the</a:t>
            </a:r>
            <a:r>
              <a:rPr lang="es-AR" sz="4000" dirty="0"/>
              <a:t> </a:t>
            </a:r>
            <a:r>
              <a:rPr lang="es-AR" sz="4000" b="1" dirty="0">
                <a:solidFill>
                  <a:schemeClr val="accent6">
                    <a:lumMod val="75000"/>
                  </a:schemeClr>
                </a:solidFill>
              </a:rPr>
              <a:t>Turing Machine</a:t>
            </a:r>
            <a:r>
              <a:rPr lang="es-AR" sz="4000" dirty="0"/>
              <a:t>?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7EA078-C8DC-70CB-9771-6BE8295FDA98}"/>
              </a:ext>
            </a:extLst>
          </p:cNvPr>
          <p:cNvSpPr txBox="1"/>
          <p:nvPr/>
        </p:nvSpPr>
        <p:spPr>
          <a:xfrm>
            <a:off x="739588" y="2541494"/>
            <a:ext cx="974911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dirty="0"/>
          </a:p>
          <a:p>
            <a:endParaRPr lang="en-US" sz="4000" dirty="0"/>
          </a:p>
          <a:p>
            <a:r>
              <a:rPr lang="en-US" sz="4000" dirty="0"/>
              <a:t>It has…</a:t>
            </a:r>
          </a:p>
          <a:p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2 instructions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2 decisions</a:t>
            </a:r>
            <a:endParaRPr lang="es-AR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19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B7F1CD-65E1-297D-C90B-334F06ABD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11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75494-AD2F-57F9-25C9-7AA831041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96B5C3-EC5C-C995-9520-747D67959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0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DEF8-4B71-B242-1A4E-E96582948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70DE254-D729-5D6C-6C50-48E8F8F30B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619"/>
          <a:stretch>
            <a:fillRect/>
          </a:stretch>
        </p:blipFill>
        <p:spPr>
          <a:xfrm>
            <a:off x="5348130" y="2215166"/>
            <a:ext cx="6106377" cy="3704419"/>
          </a:xfrm>
          <a:prstGeom prst="rect">
            <a:avLst/>
          </a:prstGeom>
          <a:ln w="38100">
            <a:solidFill>
              <a:srgbClr val="8A008A"/>
            </a:solidFill>
            <a:prstDash val="dash"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109225D-AB0C-BB9A-9011-2A2D3E6C6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027" y="230077"/>
            <a:ext cx="3562847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37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2F4B3-1778-756F-EB9B-661832B3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80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If</a:t>
            </a:r>
            <a:br>
              <a:rPr lang="es-AR" dirty="0"/>
            </a:b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</a:rPr>
              <a:t>branch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AFA1A73-9AC7-F159-359A-5560A375E69D}"/>
              </a:ext>
            </a:extLst>
          </p:cNvPr>
          <p:cNvSpPr/>
          <p:nvPr/>
        </p:nvSpPr>
        <p:spPr>
          <a:xfrm>
            <a:off x="6270542" y="991441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E66B1CE-EAC9-D87B-468C-310085ED32E7}"/>
              </a:ext>
            </a:extLst>
          </p:cNvPr>
          <p:cNvSpPr txBox="1"/>
          <p:nvPr/>
        </p:nvSpPr>
        <p:spPr>
          <a:xfrm>
            <a:off x="6505866" y="1285966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traffic lights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BA895F-BDEF-9C2E-952C-2E803F53F4C9}"/>
              </a:ext>
            </a:extLst>
          </p:cNvPr>
          <p:cNvSpPr txBox="1"/>
          <p:nvPr/>
        </p:nvSpPr>
        <p:spPr>
          <a:xfrm>
            <a:off x="7218560" y="622109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582A983-2358-5BCD-CAC2-A458D1DC8149}"/>
              </a:ext>
            </a:extLst>
          </p:cNvPr>
          <p:cNvSpPr txBox="1"/>
          <p:nvPr/>
        </p:nvSpPr>
        <p:spPr>
          <a:xfrm>
            <a:off x="10867194" y="2608187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6500A2-156E-677A-B4E2-E0BB52153F82}"/>
              </a:ext>
            </a:extLst>
          </p:cNvPr>
          <p:cNvSpPr txBox="1"/>
          <p:nvPr/>
        </p:nvSpPr>
        <p:spPr>
          <a:xfrm>
            <a:off x="7006770" y="4181059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F169AFD-6370-2BB7-551D-B6D0C149523B}"/>
              </a:ext>
            </a:extLst>
          </p:cNvPr>
          <p:cNvSpPr txBox="1"/>
          <p:nvPr/>
        </p:nvSpPr>
        <p:spPr>
          <a:xfrm>
            <a:off x="6848207" y="5451624"/>
            <a:ext cx="68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E188A1B-3A88-C848-30E1-EBE4AEB9740A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7642142" y="1949824"/>
            <a:ext cx="48039" cy="2495602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C5959A6-A2D2-162C-7E4E-6B3D905CAD21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7642142" y="1949824"/>
            <a:ext cx="2058666" cy="126586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77B0205-0B45-E246-2BB6-21E0CB172795}"/>
              </a:ext>
            </a:extLst>
          </p:cNvPr>
          <p:cNvCxnSpPr>
            <a:cxnSpLocks/>
          </p:cNvCxnSpPr>
          <p:nvPr/>
        </p:nvCxnSpPr>
        <p:spPr>
          <a:xfrm>
            <a:off x="7770823" y="5273675"/>
            <a:ext cx="6350" cy="454025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C2F98A1-6765-FA6B-EFF8-65EEAB48CE90}"/>
              </a:ext>
            </a:extLst>
          </p:cNvPr>
          <p:cNvCxnSpPr>
            <a:cxnSpLocks/>
          </p:cNvCxnSpPr>
          <p:nvPr/>
        </p:nvCxnSpPr>
        <p:spPr>
          <a:xfrm flipH="1">
            <a:off x="8940758" y="3786488"/>
            <a:ext cx="1135302" cy="89889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9E0AA09-0C74-ABFA-796B-ADFA184006F4}"/>
              </a:ext>
            </a:extLst>
          </p:cNvPr>
          <p:cNvSpPr txBox="1"/>
          <p:nvPr/>
        </p:nvSpPr>
        <p:spPr>
          <a:xfrm>
            <a:off x="6376999" y="2586690"/>
            <a:ext cx="115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True</a:t>
            </a:r>
            <a:r>
              <a:rPr lang="en-US" dirty="0"/>
              <a:t> (Yes)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D905E7AC-E0BC-F64A-EE0B-01604922B46F}"/>
              </a:ext>
            </a:extLst>
          </p:cNvPr>
          <p:cNvSpPr/>
          <p:nvPr/>
        </p:nvSpPr>
        <p:spPr>
          <a:xfrm>
            <a:off x="6680678" y="4516412"/>
            <a:ext cx="2023782" cy="707042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8420730-5AF8-F8B0-0889-7E695C2ED7C2}"/>
              </a:ext>
            </a:extLst>
          </p:cNvPr>
          <p:cNvSpPr txBox="1"/>
          <p:nvPr/>
        </p:nvSpPr>
        <p:spPr>
          <a:xfrm>
            <a:off x="7379926" y="4703435"/>
            <a:ext cx="752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Honk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C217F2C-6DFA-434E-F838-6937C190A349}"/>
              </a:ext>
            </a:extLst>
          </p:cNvPr>
          <p:cNvSpPr/>
          <p:nvPr/>
        </p:nvSpPr>
        <p:spPr>
          <a:xfrm>
            <a:off x="6745512" y="5768161"/>
            <a:ext cx="1894114" cy="66174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0EAA6C2-9038-8C29-6A35-D02BAE99487D}"/>
              </a:ext>
            </a:extLst>
          </p:cNvPr>
          <p:cNvSpPr txBox="1"/>
          <p:nvPr/>
        </p:nvSpPr>
        <p:spPr>
          <a:xfrm>
            <a:off x="6745512" y="5957469"/>
            <a:ext cx="19677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Turn on air conditioning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5FC1A95-6924-8492-F693-3287035E94DF}"/>
              </a:ext>
            </a:extLst>
          </p:cNvPr>
          <p:cNvSpPr txBox="1"/>
          <p:nvPr/>
        </p:nvSpPr>
        <p:spPr>
          <a:xfrm rot="1991310">
            <a:off x="8361415" y="2299684"/>
            <a:ext cx="115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False</a:t>
            </a:r>
            <a:r>
              <a:rPr lang="en-US" dirty="0"/>
              <a:t> (No)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491C53A1-2359-8F22-690B-8896A07D8A86}"/>
              </a:ext>
            </a:extLst>
          </p:cNvPr>
          <p:cNvSpPr/>
          <p:nvPr/>
        </p:nvSpPr>
        <p:spPr>
          <a:xfrm>
            <a:off x="9855303" y="2977519"/>
            <a:ext cx="2023782" cy="707042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54A393C-F265-C4A1-5499-F521C562B802}"/>
              </a:ext>
            </a:extLst>
          </p:cNvPr>
          <p:cNvSpPr txBox="1"/>
          <p:nvPr/>
        </p:nvSpPr>
        <p:spPr>
          <a:xfrm>
            <a:off x="10188119" y="3079446"/>
            <a:ext cx="181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Stop</a:t>
            </a:r>
            <a:r>
              <a:rPr lang="en-US" i="1" dirty="0"/>
              <a:t> </a:t>
            </a:r>
            <a:r>
              <a:rPr lang="en-US" sz="1600" i="1" dirty="0"/>
              <a:t>the car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9F10AC8-4140-216D-CD31-A7EDCD612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1" y="2220377"/>
            <a:ext cx="5519754" cy="1990620"/>
          </a:xfrm>
          <a:prstGeom prst="rect">
            <a:avLst/>
          </a:prstGeom>
        </p:spPr>
      </p:pic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03475E0-1283-BFBE-E484-0485073141F2}"/>
              </a:ext>
            </a:extLst>
          </p:cNvPr>
          <p:cNvCxnSpPr/>
          <p:nvPr/>
        </p:nvCxnSpPr>
        <p:spPr>
          <a:xfrm flipV="1">
            <a:off x="5957450" y="-401782"/>
            <a:ext cx="0" cy="7259782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048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89B0-17E4-4A6C-C094-5E0D43DC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176EFDE-E33D-D135-5937-8483FCBCB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220" y="879833"/>
            <a:ext cx="4868780" cy="48817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A472234-5CF7-A9D7-788C-BB6300035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053" y="1359568"/>
            <a:ext cx="5385596" cy="353728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DCA3DFB-2ADA-C213-93BD-C537724C8E68}"/>
              </a:ext>
            </a:extLst>
          </p:cNvPr>
          <p:cNvSpPr txBox="1">
            <a:spLocks/>
          </p:cNvSpPr>
          <p:nvPr/>
        </p:nvSpPr>
        <p:spPr>
          <a:xfrm>
            <a:off x="40278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>
                <a:latin typeface="Consolas" panose="020B0609020204030204" pitchFamily="49" charset="0"/>
                <a:cs typeface="Cascadia Code SemiBold" panose="020B0609020000020004" pitchFamily="49" charset="0"/>
              </a:rPr>
              <a:t>If else</a:t>
            </a:r>
            <a:br>
              <a:rPr lang="es-AR"/>
            </a:br>
            <a:r>
              <a:rPr lang="es-AR" sz="2400" i="1">
                <a:solidFill>
                  <a:schemeClr val="bg2">
                    <a:lumMod val="50000"/>
                  </a:schemeClr>
                </a:solidFill>
              </a:rPr>
              <a:t>(branch)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62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1A36E-6995-86A7-BF67-E4CD22FA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… else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4FA6E06-181C-FD4D-1578-B066BD26D278}"/>
              </a:ext>
            </a:extLst>
          </p:cNvPr>
          <p:cNvSpPr/>
          <p:nvPr/>
        </p:nvSpPr>
        <p:spPr>
          <a:xfrm>
            <a:off x="4477871" y="2205318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CA15D1E-56B3-9AF2-4BFC-193F9C87DE52}"/>
              </a:ext>
            </a:extLst>
          </p:cNvPr>
          <p:cNvSpPr/>
          <p:nvPr/>
        </p:nvSpPr>
        <p:spPr>
          <a:xfrm>
            <a:off x="3581401" y="3429000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9B89C6F-F762-CAEF-1D31-F598E09F8D1F}"/>
              </a:ext>
            </a:extLst>
          </p:cNvPr>
          <p:cNvSpPr/>
          <p:nvPr/>
        </p:nvSpPr>
        <p:spPr>
          <a:xfrm>
            <a:off x="5867401" y="3429000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EE1E460-A4AC-2787-2999-4A2395CD7562}"/>
              </a:ext>
            </a:extLst>
          </p:cNvPr>
          <p:cNvSpPr/>
          <p:nvPr/>
        </p:nvSpPr>
        <p:spPr>
          <a:xfrm>
            <a:off x="5553637" y="4454618"/>
            <a:ext cx="896468" cy="33397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B1C16B8-C906-A3C3-BC0F-CFDB223E7196}"/>
              </a:ext>
            </a:extLst>
          </p:cNvPr>
          <p:cNvSpPr/>
          <p:nvPr/>
        </p:nvSpPr>
        <p:spPr>
          <a:xfrm>
            <a:off x="7064190" y="4454618"/>
            <a:ext cx="896468" cy="33397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4D3C52F-F39A-5067-AE1C-3C1384711BEA}"/>
              </a:ext>
            </a:extLst>
          </p:cNvPr>
          <p:cNvSpPr/>
          <p:nvPr/>
        </p:nvSpPr>
        <p:spPr>
          <a:xfrm>
            <a:off x="5095094" y="5450194"/>
            <a:ext cx="612286" cy="228106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1E47987-3623-7AC3-524C-03498B4CB9F4}"/>
              </a:ext>
            </a:extLst>
          </p:cNvPr>
          <p:cNvSpPr/>
          <p:nvPr/>
        </p:nvSpPr>
        <p:spPr>
          <a:xfrm>
            <a:off x="6362250" y="5487932"/>
            <a:ext cx="510990" cy="19036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4BB4E3F-C3A1-8BE8-7F99-3C13A592DD73}"/>
              </a:ext>
            </a:extLst>
          </p:cNvPr>
          <p:cNvCxnSpPr>
            <a:cxnSpLocks/>
          </p:cNvCxnSpPr>
          <p:nvPr/>
        </p:nvCxnSpPr>
        <p:spPr>
          <a:xfrm>
            <a:off x="5570220" y="2811780"/>
            <a:ext cx="480060" cy="579120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BCAA3593-B499-FE90-74A8-4EF44A834EA2}"/>
              </a:ext>
            </a:extLst>
          </p:cNvPr>
          <p:cNvCxnSpPr>
            <a:cxnSpLocks/>
          </p:cNvCxnSpPr>
          <p:nvPr/>
        </p:nvCxnSpPr>
        <p:spPr>
          <a:xfrm>
            <a:off x="7064190" y="4042487"/>
            <a:ext cx="228785" cy="36441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7D50BAA-D249-DDAA-665D-B5E1EBCB1052}"/>
              </a:ext>
            </a:extLst>
          </p:cNvPr>
          <p:cNvCxnSpPr>
            <a:cxnSpLocks/>
          </p:cNvCxnSpPr>
          <p:nvPr/>
        </p:nvCxnSpPr>
        <p:spPr>
          <a:xfrm flipH="1">
            <a:off x="6045200" y="4015096"/>
            <a:ext cx="117290" cy="363229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788B5FD-8371-B90F-59FA-5CCDBE0839E5}"/>
              </a:ext>
            </a:extLst>
          </p:cNvPr>
          <p:cNvCxnSpPr>
            <a:cxnSpLocks/>
          </p:cNvCxnSpPr>
          <p:nvPr/>
        </p:nvCxnSpPr>
        <p:spPr>
          <a:xfrm flipH="1">
            <a:off x="5499100" y="4864889"/>
            <a:ext cx="171827" cy="450061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8F43E409-93ED-8176-90B5-50F9DC7FBD15}"/>
              </a:ext>
            </a:extLst>
          </p:cNvPr>
          <p:cNvCxnSpPr>
            <a:cxnSpLocks/>
          </p:cNvCxnSpPr>
          <p:nvPr/>
        </p:nvCxnSpPr>
        <p:spPr>
          <a:xfrm>
            <a:off x="6275672" y="4892955"/>
            <a:ext cx="214028" cy="479145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8F6B92C-A7B0-2FE2-2303-78BBFD642AA3}"/>
              </a:ext>
            </a:extLst>
          </p:cNvPr>
          <p:cNvCxnSpPr>
            <a:cxnSpLocks/>
          </p:cNvCxnSpPr>
          <p:nvPr/>
        </p:nvCxnSpPr>
        <p:spPr>
          <a:xfrm flipH="1">
            <a:off x="4425950" y="2811780"/>
            <a:ext cx="287021" cy="560070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A7C94DD-AF9A-8E05-1D5E-99884ED59211}"/>
              </a:ext>
            </a:extLst>
          </p:cNvPr>
          <p:cNvCxnSpPr>
            <a:cxnSpLocks/>
          </p:cNvCxnSpPr>
          <p:nvPr/>
        </p:nvCxnSpPr>
        <p:spPr>
          <a:xfrm flipH="1">
            <a:off x="6267083" y="5852314"/>
            <a:ext cx="171827" cy="450061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E1D05D7-E521-7E86-0D2B-5FE633F646B0}"/>
              </a:ext>
            </a:extLst>
          </p:cNvPr>
          <p:cNvCxnSpPr>
            <a:cxnSpLocks/>
          </p:cNvCxnSpPr>
          <p:nvPr/>
        </p:nvCxnSpPr>
        <p:spPr>
          <a:xfrm>
            <a:off x="6818690" y="5841725"/>
            <a:ext cx="286960" cy="450062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1EC24C-E427-29F5-20DE-AFAF20671589}"/>
              </a:ext>
            </a:extLst>
          </p:cNvPr>
          <p:cNvSpPr txBox="1"/>
          <p:nvPr/>
        </p:nvSpPr>
        <p:spPr>
          <a:xfrm>
            <a:off x="6001871" y="6291787"/>
            <a:ext cx="62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</a:rPr>
              <a:t>Etc.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60D2AED-48D3-9E53-C8AD-A6912AC7373A}"/>
              </a:ext>
            </a:extLst>
          </p:cNvPr>
          <p:cNvSpPr txBox="1"/>
          <p:nvPr/>
        </p:nvSpPr>
        <p:spPr>
          <a:xfrm>
            <a:off x="7032993" y="6291787"/>
            <a:ext cx="62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39597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4B94B-EA6C-22DA-E37D-4574F40A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very easy to </a:t>
            </a:r>
            <a:r>
              <a:rPr lang="en-US" b="1" i="1" dirty="0">
                <a:solidFill>
                  <a:srgbClr val="C00000"/>
                </a:solidFill>
              </a:rPr>
              <a:t>get lost</a:t>
            </a:r>
            <a:r>
              <a:rPr lang="en-US" dirty="0"/>
              <a:t>… right?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B2091F-F58B-2073-ED14-0B909D8B1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you get lost when coding, do your own drawings on pen and paper!</a:t>
            </a:r>
          </a:p>
        </p:txBody>
      </p:sp>
    </p:spTree>
    <p:extLst>
      <p:ext uri="{BB962C8B-B14F-4D97-AF65-F5344CB8AC3E}">
        <p14:creationId xmlns:p14="http://schemas.microsoft.com/office/powerpoint/2010/main" val="202441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21463CE-2ECC-823B-7A96-782688CD4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8761" y="1771531"/>
            <a:ext cx="1177254" cy="363259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AAA4A2C-E2FF-62C5-40E9-8254794D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3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While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CB7D4F2-4E66-01F3-BFC8-F9BE215440BD}"/>
              </a:ext>
            </a:extLst>
          </p:cNvPr>
          <p:cNvSpPr/>
          <p:nvPr/>
        </p:nvSpPr>
        <p:spPr>
          <a:xfrm>
            <a:off x="7661457" y="991441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16FCBB-538F-8DE6-B01C-A838AF459EA0}"/>
              </a:ext>
            </a:extLst>
          </p:cNvPr>
          <p:cNvSpPr txBox="1"/>
          <p:nvPr/>
        </p:nvSpPr>
        <p:spPr>
          <a:xfrm>
            <a:off x="7896781" y="1285966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kettle_temperature</a:t>
            </a:r>
            <a:r>
              <a:rPr lang="en-US" dirty="0"/>
              <a:t> = 20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7A149B-8F39-91A3-4658-71157F1B301B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6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01AEFAF-9B02-65FD-F0C5-D0F38EF5323A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83836FA-90FE-BF93-1E0B-E57B0C09EF0C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kettle_temperature</a:t>
            </a:r>
            <a:r>
              <a:rPr lang="en-US" dirty="0"/>
              <a:t>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98573A2-FFCB-389C-E7DF-612C8F651851}"/>
              </a:ext>
            </a:extLst>
          </p:cNvPr>
          <p:cNvSpPr txBox="1"/>
          <p:nvPr/>
        </p:nvSpPr>
        <p:spPr>
          <a:xfrm>
            <a:off x="7896781" y="695741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637E389-9877-9299-CFE1-F60ADCAA8740}"/>
              </a:ext>
            </a:extLst>
          </p:cNvPr>
          <p:cNvGrpSpPr/>
          <p:nvPr/>
        </p:nvGrpSpPr>
        <p:grpSpPr>
          <a:xfrm rot="1017173">
            <a:off x="5372715" y="939616"/>
            <a:ext cx="2337358" cy="2087943"/>
            <a:chOff x="4312494" y="1392221"/>
            <a:chExt cx="2564824" cy="2291137"/>
          </a:xfrm>
        </p:grpSpPr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93EFBE91-D05C-C766-B686-79B2C6386D37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D6721B3E-B356-995B-F1B4-09A6E562C7C3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5EC1769-58C5-19F6-ED4E-81D0E2650381}"/>
              </a:ext>
            </a:extLst>
          </p:cNvPr>
          <p:cNvSpPr txBox="1"/>
          <p:nvPr/>
        </p:nvSpPr>
        <p:spPr>
          <a:xfrm>
            <a:off x="6983290" y="2662913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6A8207D-903B-F223-FC1C-645B209A93B3}"/>
              </a:ext>
            </a:extLst>
          </p:cNvPr>
          <p:cNvSpPr txBox="1"/>
          <p:nvPr/>
        </p:nvSpPr>
        <p:spPr>
          <a:xfrm>
            <a:off x="10903574" y="2553521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B4F8199-CCFA-42D1-8ED2-649051600151}"/>
              </a:ext>
            </a:extLst>
          </p:cNvPr>
          <p:cNvSpPr txBox="1"/>
          <p:nvPr/>
        </p:nvSpPr>
        <p:spPr>
          <a:xfrm>
            <a:off x="7693154" y="2262593"/>
            <a:ext cx="2943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</a:t>
            </a:r>
            <a:r>
              <a:rPr lang="en-US" dirty="0" err="1"/>
              <a:t>kettle_temperature</a:t>
            </a:r>
            <a:r>
              <a:rPr lang="en-US" dirty="0"/>
              <a:t> &lt; 100?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177ADE44-6079-298D-9B32-98503FED8A1A}"/>
              </a:ext>
            </a:extLst>
          </p:cNvPr>
          <p:cNvSpPr/>
          <p:nvPr/>
        </p:nvSpPr>
        <p:spPr>
          <a:xfrm>
            <a:off x="319303" y="1826482"/>
            <a:ext cx="891890" cy="2110778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D59D213-C35C-8917-D92F-99544163F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81" y="5034794"/>
            <a:ext cx="7407730" cy="1823205"/>
          </a:xfrm>
          <a:prstGeom prst="rect">
            <a:avLst/>
          </a:prstGeom>
        </p:spPr>
      </p:pic>
      <p:sp>
        <p:nvSpPr>
          <p:cNvPr id="25" name="Elipse 24">
            <a:extLst>
              <a:ext uri="{FF2B5EF4-FFF2-40B4-BE49-F238E27FC236}">
                <a16:creationId xmlns:a16="http://schemas.microsoft.com/office/drawing/2014/main" id="{AD573619-E381-56A8-D27D-CFF759978C65}"/>
              </a:ext>
            </a:extLst>
          </p:cNvPr>
          <p:cNvSpPr/>
          <p:nvPr/>
        </p:nvSpPr>
        <p:spPr>
          <a:xfrm>
            <a:off x="2266682" y="1684359"/>
            <a:ext cx="4716608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97C2030-D306-34E4-BBFE-8B6DB877A003}"/>
              </a:ext>
            </a:extLst>
          </p:cNvPr>
          <p:cNvSpPr txBox="1"/>
          <p:nvPr/>
        </p:nvSpPr>
        <p:spPr>
          <a:xfrm>
            <a:off x="2521355" y="1978884"/>
            <a:ext cx="4523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kettle_temperature</a:t>
            </a:r>
            <a:r>
              <a:rPr lang="en-US" dirty="0"/>
              <a:t> = </a:t>
            </a:r>
            <a:r>
              <a:rPr lang="en-US" dirty="0" err="1"/>
              <a:t>kettle_temperature</a:t>
            </a:r>
            <a:r>
              <a:rPr lang="en-US" dirty="0"/>
              <a:t> + 1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7BA455D-9C6C-EA4D-7F41-348C515612A7}"/>
              </a:ext>
            </a:extLst>
          </p:cNvPr>
          <p:cNvSpPr txBox="1"/>
          <p:nvPr/>
        </p:nvSpPr>
        <p:spPr>
          <a:xfrm>
            <a:off x="2665781" y="1450924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</p:spTree>
    <p:extLst>
      <p:ext uri="{BB962C8B-B14F-4D97-AF65-F5344CB8AC3E}">
        <p14:creationId xmlns:p14="http://schemas.microsoft.com/office/powerpoint/2010/main" val="2498668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B5DFC-30DB-1EBB-370A-15399219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0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 ____ in ____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dirty="0"/>
              <a:t> </a:t>
            </a:r>
            <a:endParaRPr lang="en-US" dirty="0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8C7EDE2A-91C1-CA2D-5566-DA3F39B2C87D}"/>
              </a:ext>
            </a:extLst>
          </p:cNvPr>
          <p:cNvSpPr/>
          <p:nvPr/>
        </p:nvSpPr>
        <p:spPr>
          <a:xfrm>
            <a:off x="319303" y="1826482"/>
            <a:ext cx="891890" cy="2110778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46EF31-6ACD-5252-AB1B-7DC323B4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173" y="3428999"/>
            <a:ext cx="1177254" cy="22619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6F9D99F-297C-A5EC-E924-942CFB386CFB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2F364C0-E51A-FF84-DFF2-F1912A623D9C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0988F13-3576-2A11-742A-7BFBD617168A}"/>
              </a:ext>
            </a:extLst>
          </p:cNvPr>
          <p:cNvSpPr txBox="1"/>
          <p:nvPr/>
        </p:nvSpPr>
        <p:spPr>
          <a:xfrm>
            <a:off x="7715814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print(</a:t>
            </a:r>
            <a:r>
              <a:rPr lang="en-US" dirty="0" err="1"/>
              <a:t>numbers_times_two</a:t>
            </a:r>
            <a:r>
              <a:rPr lang="en-US" dirty="0"/>
              <a:t>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85445FB-B587-C2FB-458E-2CDECE581D7C}"/>
              </a:ext>
            </a:extLst>
          </p:cNvPr>
          <p:cNvGrpSpPr/>
          <p:nvPr/>
        </p:nvGrpSpPr>
        <p:grpSpPr>
          <a:xfrm>
            <a:off x="7837125" y="38921"/>
            <a:ext cx="3058402" cy="1254083"/>
            <a:chOff x="7470476" y="695741"/>
            <a:chExt cx="4446516" cy="125408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74F86612-FB7B-9959-B06C-73857629FA4E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DBD6D31E-334F-D53E-D7F1-9EF1E6B928F7}"/>
                </a:ext>
              </a:extLst>
            </p:cNvPr>
            <p:cNvSpPr txBox="1"/>
            <p:nvPr/>
          </p:nvSpPr>
          <p:spPr>
            <a:xfrm>
              <a:off x="7470476" y="1304205"/>
              <a:ext cx="4446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numbers = [1, 2, 3, 4, 5]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E129EDAB-429A-C957-FBD5-9654D3719938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B992A34-F18D-F698-89B1-5D121824A385}"/>
              </a:ext>
            </a:extLst>
          </p:cNvPr>
          <p:cNvGrpSpPr/>
          <p:nvPr/>
        </p:nvGrpSpPr>
        <p:grpSpPr>
          <a:xfrm rot="1017173">
            <a:off x="5372715" y="2382051"/>
            <a:ext cx="2337358" cy="2087943"/>
            <a:chOff x="4312494" y="1392221"/>
            <a:chExt cx="2564824" cy="2291137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7633CA4D-A114-3659-97BB-616DA2300C6F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4911BBCF-8911-2F0A-61F7-0AC14C5E7D5F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98AE535-5F3D-A53C-853B-D24C058A5862}"/>
              </a:ext>
            </a:extLst>
          </p:cNvPr>
          <p:cNvSpPr txBox="1"/>
          <p:nvPr/>
        </p:nvSpPr>
        <p:spPr>
          <a:xfrm>
            <a:off x="6983290" y="4105348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593883B-1CC8-CD54-67A6-856951F4F14C}"/>
              </a:ext>
            </a:extLst>
          </p:cNvPr>
          <p:cNvSpPr txBox="1"/>
          <p:nvPr/>
        </p:nvSpPr>
        <p:spPr>
          <a:xfrm>
            <a:off x="11199788" y="3877657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95CC448-1347-3FE8-7BF3-8F618387A3B0}"/>
              </a:ext>
            </a:extLst>
          </p:cNvPr>
          <p:cNvGrpSpPr/>
          <p:nvPr/>
        </p:nvGrpSpPr>
        <p:grpSpPr>
          <a:xfrm>
            <a:off x="6983289" y="2512539"/>
            <a:ext cx="4662725" cy="1254083"/>
            <a:chOff x="7661456" y="695741"/>
            <a:chExt cx="4002164" cy="125408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7284DA1-0974-DAEF-C6EA-13A55A8051D0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1997FA1-46A2-5CBE-6F68-358AA0524D64}"/>
                </a:ext>
              </a:extLst>
            </p:cNvPr>
            <p:cNvSpPr txBox="1"/>
            <p:nvPr/>
          </p:nvSpPr>
          <p:spPr>
            <a:xfrm>
              <a:off x="7661456" y="1276957"/>
              <a:ext cx="4002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is </a:t>
              </a:r>
              <a:r>
                <a:rPr lang="en-US" b="1" dirty="0">
                  <a:solidFill>
                    <a:srgbClr val="B400B8"/>
                  </a:solidFill>
                </a:rPr>
                <a:t>number</a:t>
              </a:r>
              <a:r>
                <a:rPr lang="en-US" dirty="0"/>
                <a:t> in </a:t>
              </a:r>
              <a:r>
                <a:rPr lang="en-US" b="1" dirty="0">
                  <a:solidFill>
                    <a:srgbClr val="D3934D"/>
                  </a:solidFill>
                </a:rPr>
                <a:t>numbers</a:t>
              </a:r>
              <a:r>
                <a:rPr lang="en-US" dirty="0"/>
                <a:t>?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561EF48D-2EDC-BC5C-885B-CB06F2A2E080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2</a:t>
              </a:r>
            </a:p>
          </p:txBody>
        </p:sp>
      </p:grpSp>
      <p:pic>
        <p:nvPicPr>
          <p:cNvPr id="22" name="Imagen 21">
            <a:extLst>
              <a:ext uri="{FF2B5EF4-FFF2-40B4-BE49-F238E27FC236}">
                <a16:creationId xmlns:a16="http://schemas.microsoft.com/office/drawing/2014/main" id="{4B0357F6-5935-71A4-D2C2-2F474EDCC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87" y="4784346"/>
            <a:ext cx="7312364" cy="207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66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E5875-45E6-41B1-6555-68839D5B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2DC75-D4A3-19E9-89A3-CBE66527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0" y="365125"/>
            <a:ext cx="6866419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 i in </a:t>
            </a:r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range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(_, _)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dirty="0"/>
              <a:t> </a:t>
            </a:r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2307BD-E02F-DF58-1B3D-D4AFC4023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173" y="3428999"/>
            <a:ext cx="1177254" cy="22619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338EABA-F96A-CDD7-7D24-EDEAA2138DB5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4D91BC4-D09B-C867-C553-847F1C63280E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6D7C43-3D48-0AC7-D7E6-79E9F1DA8556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full_names</a:t>
            </a:r>
            <a:r>
              <a:rPr lang="en-US" dirty="0"/>
              <a:t>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AAA08FD-C85A-62BA-96BB-CFD08F872AAF}"/>
              </a:ext>
            </a:extLst>
          </p:cNvPr>
          <p:cNvGrpSpPr/>
          <p:nvPr/>
        </p:nvGrpSpPr>
        <p:grpSpPr>
          <a:xfrm>
            <a:off x="6996279" y="38921"/>
            <a:ext cx="5298410" cy="1254083"/>
            <a:chOff x="7661457" y="695741"/>
            <a:chExt cx="4543293" cy="125408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B849390-1EF5-CFD2-0821-D007DC9109AC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3FC5B7E-BC21-6676-3B11-A0FC475EB18C}"/>
                </a:ext>
              </a:extLst>
            </p:cNvPr>
            <p:cNvSpPr txBox="1"/>
            <p:nvPr/>
          </p:nvSpPr>
          <p:spPr>
            <a:xfrm>
              <a:off x="7758234" y="1276957"/>
              <a:ext cx="4446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names = [“Lionel </a:t>
              </a:r>
              <a:r>
                <a:rPr lang="es-AR" dirty="0"/>
                <a:t>”</a:t>
              </a:r>
              <a:r>
                <a:rPr lang="en-US" dirty="0"/>
                <a:t>, “Juli</a:t>
              </a:r>
              <a:r>
                <a:rPr lang="es-AR" dirty="0" err="1"/>
                <a:t>án</a:t>
              </a:r>
              <a:r>
                <a:rPr lang="es-AR" dirty="0"/>
                <a:t> ”, “Ángel ”, “</a:t>
              </a:r>
              <a:r>
                <a:rPr lang="es-AR" dirty="0" err="1"/>
                <a:t>Dibu</a:t>
              </a:r>
              <a:r>
                <a:rPr lang="es-AR" dirty="0"/>
                <a:t> “</a:t>
              </a:r>
              <a:r>
                <a:rPr lang="en-US" dirty="0"/>
                <a:t>]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B48E52D-9EBA-7315-C8BE-F4E2085B269B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6A74406-B3C4-11E3-1839-46997C9D4CE2}"/>
              </a:ext>
            </a:extLst>
          </p:cNvPr>
          <p:cNvGrpSpPr/>
          <p:nvPr/>
        </p:nvGrpSpPr>
        <p:grpSpPr>
          <a:xfrm rot="1017173">
            <a:off x="5372715" y="2382051"/>
            <a:ext cx="2337358" cy="2087943"/>
            <a:chOff x="4312494" y="1392221"/>
            <a:chExt cx="2564824" cy="2291137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F76333DC-E137-1DC4-2CFE-263016F51ECC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3E13DC10-89F8-73E8-1AC8-19340731DCB1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FC248E7-5A5E-40AB-BEF6-6F7DE9304C68}"/>
              </a:ext>
            </a:extLst>
          </p:cNvPr>
          <p:cNvSpPr txBox="1"/>
          <p:nvPr/>
        </p:nvSpPr>
        <p:spPr>
          <a:xfrm>
            <a:off x="6983290" y="4105348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7A7B805-1F1F-2E13-F832-8CE5ECAA77BB}"/>
              </a:ext>
            </a:extLst>
          </p:cNvPr>
          <p:cNvSpPr txBox="1"/>
          <p:nvPr/>
        </p:nvSpPr>
        <p:spPr>
          <a:xfrm>
            <a:off x="11199788" y="3877657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20C722A5-476B-C954-EE7A-100E0535FF67}"/>
              </a:ext>
            </a:extLst>
          </p:cNvPr>
          <p:cNvGrpSpPr/>
          <p:nvPr/>
        </p:nvGrpSpPr>
        <p:grpSpPr>
          <a:xfrm>
            <a:off x="6983290" y="2512539"/>
            <a:ext cx="4791515" cy="1254083"/>
            <a:chOff x="7661457" y="695741"/>
            <a:chExt cx="4112709" cy="125408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714651A1-FBB2-B973-888A-3CDD77D8DFCD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66C4F28E-38F5-24CE-6C8C-4C0E080FCF63}"/>
                </a:ext>
              </a:extLst>
            </p:cNvPr>
            <p:cNvSpPr txBox="1"/>
            <p:nvPr/>
          </p:nvSpPr>
          <p:spPr>
            <a:xfrm>
              <a:off x="7772002" y="1276957"/>
              <a:ext cx="4002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surnames = [“Messi”, “Juli</a:t>
              </a:r>
              <a:r>
                <a:rPr lang="es-AR" dirty="0" err="1"/>
                <a:t>án</a:t>
              </a:r>
              <a:r>
                <a:rPr lang="es-AR" dirty="0"/>
                <a:t>”, “Ángel”, “</a:t>
              </a:r>
              <a:r>
                <a:rPr lang="es-AR" dirty="0" err="1"/>
                <a:t>Dibu</a:t>
              </a:r>
              <a:r>
                <a:rPr lang="es-AR" dirty="0"/>
                <a:t>”</a:t>
              </a:r>
              <a:r>
                <a:rPr lang="en-US" dirty="0"/>
                <a:t>]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2297C3B6-0BED-B466-A712-0BEB0F65EAFB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2</a:t>
              </a:r>
            </a:p>
          </p:txBody>
        </p:sp>
      </p:grp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1304784F-B88B-E77F-7EEF-645BD56285B1}"/>
              </a:ext>
            </a:extLst>
          </p:cNvPr>
          <p:cNvSpPr/>
          <p:nvPr/>
        </p:nvSpPr>
        <p:spPr>
          <a:xfrm>
            <a:off x="319303" y="1826482"/>
            <a:ext cx="891890" cy="2110778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594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306</Words>
  <Application>Microsoft Office PowerPoint</Application>
  <PresentationFormat>Panorámica</PresentationFormat>
  <Paragraphs>68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Cascadia Code SemiLight</vt:lpstr>
      <vt:lpstr>Consolas</vt:lpstr>
      <vt:lpstr>Tema de Office</vt:lpstr>
      <vt:lpstr>Lesson #7</vt:lpstr>
      <vt:lpstr>Up to now, our code has been “sequential”</vt:lpstr>
      <vt:lpstr>Presentación de PowerPoint</vt:lpstr>
      <vt:lpstr>Presentación de PowerPoint</vt:lpstr>
      <vt:lpstr>Presentación de PowerPoint</vt:lpstr>
      <vt:lpstr>Presentación de PowerPoint</vt:lpstr>
      <vt:lpstr>If (branch)</vt:lpstr>
      <vt:lpstr>Presentación de PowerPoint</vt:lpstr>
      <vt:lpstr>If elif elif elif elif… else</vt:lpstr>
      <vt:lpstr>It’s very easy to get lost… right?</vt:lpstr>
      <vt:lpstr>While (loop)</vt:lpstr>
      <vt:lpstr>For ____ in ____ (loop) </vt:lpstr>
      <vt:lpstr>For i in range(_, _) (loop)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 p</dc:creator>
  <cp:lastModifiedBy>clau p</cp:lastModifiedBy>
  <cp:revision>38</cp:revision>
  <dcterms:created xsi:type="dcterms:W3CDTF">2026-04-13T02:37:44Z</dcterms:created>
  <dcterms:modified xsi:type="dcterms:W3CDTF">2026-04-22T21:47:49Z</dcterms:modified>
</cp:coreProperties>
</file>